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3" r:id="rId5"/>
    <p:sldId id="259" r:id="rId6"/>
    <p:sldId id="260" r:id="rId7"/>
    <p:sldId id="261" r:id="rId8"/>
    <p:sldId id="262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6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2879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1B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097280"/>
            <a:ext cx="5029200" cy="5029200"/>
          </a:xfrm>
          <a:prstGeom prst="ellipse">
            <a:avLst/>
          </a:prstGeom>
          <a:solidFill>
            <a:srgbClr val="00666B">
              <a:alpha val="25000"/>
            </a:srgbClr>
          </a:solidFill>
          <a:ln w="12700">
            <a:solidFill>
              <a:srgbClr val="0066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2560320"/>
            <a:ext cx="2743200" cy="2743200"/>
          </a:xfrm>
          <a:prstGeom prst="ellipse">
            <a:avLst/>
          </a:prstGeom>
          <a:solidFill>
            <a:srgbClr val="39A8AD">
              <a:alpha val="15000"/>
            </a:srgbClr>
          </a:solidFill>
          <a:ln w="12700">
            <a:solidFill>
              <a:srgbClr val="39A8A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97280"/>
            <a:ext cx="54864" cy="2926080"/>
          </a:xfrm>
          <a:prstGeom prst="rect">
            <a:avLst/>
          </a:prstGeom>
          <a:solidFill>
            <a:srgbClr val="73FFFF"/>
          </a:solidFill>
          <a:ln w="12700">
            <a:solidFill>
              <a:srgbClr val="73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51560"/>
            <a:ext cx="2926080" cy="347472"/>
          </a:xfrm>
          <a:prstGeom prst="roundRect">
            <a:avLst>
              <a:gd name="adj" fmla="val 21053"/>
            </a:avLst>
          </a:prstGeom>
          <a:solidFill>
            <a:srgbClr val="00666B">
              <a:alpha val="70000"/>
            </a:srgbClr>
          </a:solidFill>
          <a:ln w="12700">
            <a:solidFill>
              <a:srgbClr val="39A8A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5156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73FFFF"/>
                </a:solidFill>
              </a:rPr>
              <a:t>DEEP LEARNING — COMPUTER VISION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5943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7F7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Détection de</a:t>
            </a:r>
            <a:endParaRPr lang="en-US" sz="4400" dirty="0"/>
          </a:p>
          <a:p>
            <a:pPr marL="0" indent="0" algn="l">
              <a:buNone/>
            </a:pPr>
            <a:r>
              <a:rPr lang="en-US" sz="4400" b="1" dirty="0">
                <a:solidFill>
                  <a:srgbClr val="F7F7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l'Endométriose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3429000"/>
            <a:ext cx="14052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 err="1" smtClean="0">
                <a:solidFill>
                  <a:srgbClr val="73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Rouatbi</a:t>
            </a:r>
            <a:r>
              <a:rPr lang="en-US" sz="1400" i="1" dirty="0" smtClean="0">
                <a:solidFill>
                  <a:srgbClr val="73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 err="1" smtClean="0">
                <a:solidFill>
                  <a:srgbClr val="73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Hedil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977640"/>
            <a:ext cx="4114800" cy="18288"/>
          </a:xfrm>
          <a:prstGeom prst="rect">
            <a:avLst/>
          </a:prstGeom>
          <a:solidFill>
            <a:srgbClr val="39A8AD"/>
          </a:solidFill>
          <a:ln w="12700">
            <a:solidFill>
              <a:srgbClr val="39A8A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1148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7F7F8"/>
                </a:solidFill>
              </a:rPr>
              <a:t>Module Deep Learning</a:t>
            </a:r>
            <a:r>
              <a:rPr lang="en-US" sz="1100" dirty="0">
                <a:solidFill>
                  <a:srgbClr val="8EADB0"/>
                </a:solidFill>
              </a:rPr>
              <a:t>   |   Encadrant : M. Abdallah Khemais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526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EADB0"/>
                </a:solidFill>
              </a:rPr>
              <a:t>2025 —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51B1D"/>
          </a:solidFill>
          <a:ln w="12700">
            <a:solidFill>
              <a:srgbClr val="051B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7F7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Problème &amp; Jeu de Données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4572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73FFFF"/>
                </a:solidFill>
              </a:rPr>
              <a:t>02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1148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39A8AD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4114800" cy="411480"/>
          </a:xfrm>
          <a:prstGeom prst="rect">
            <a:avLst/>
          </a:prstGeom>
          <a:solidFill>
            <a:srgbClr val="00666B"/>
          </a:solidFill>
          <a:ln w="12700">
            <a:solidFill>
              <a:srgbClr val="0066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972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7F7F8"/>
                </a:solidFill>
              </a:rPr>
              <a:t>🩺  Problème Médical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709928"/>
            <a:ext cx="256032" cy="256032"/>
          </a:xfrm>
          <a:prstGeom prst="ellipse">
            <a:avLst/>
          </a:prstGeom>
          <a:solidFill>
            <a:srgbClr val="39A8AD"/>
          </a:solidFill>
          <a:ln w="12700">
            <a:solidFill>
              <a:srgbClr val="39A8A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6459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666B"/>
                </a:solidFill>
              </a:rPr>
              <a:t>10% </a:t>
            </a:r>
            <a:r>
              <a:rPr lang="en-US" sz="1100" dirty="0">
                <a:solidFill>
                  <a:srgbClr val="051B1D"/>
                </a:solidFill>
              </a:rPr>
              <a:t>des femmes touchées dans le monde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2276856"/>
            <a:ext cx="256032" cy="256032"/>
          </a:xfrm>
          <a:prstGeom prst="ellipse">
            <a:avLst/>
          </a:prstGeom>
          <a:solidFill>
            <a:srgbClr val="39A8AD"/>
          </a:solidFill>
          <a:ln w="12700">
            <a:solidFill>
              <a:srgbClr val="39A8A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2212848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666B"/>
                </a:solidFill>
              </a:rPr>
              <a:t>7-10 ans </a:t>
            </a:r>
            <a:r>
              <a:rPr lang="en-US" sz="1100" dirty="0">
                <a:solidFill>
                  <a:srgbClr val="051B1D"/>
                </a:solidFill>
              </a:rPr>
              <a:t>de retard de diagnostic en moyenne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2843784"/>
            <a:ext cx="256032" cy="256032"/>
          </a:xfrm>
          <a:prstGeom prst="ellipse">
            <a:avLst/>
          </a:prstGeom>
          <a:solidFill>
            <a:srgbClr val="39A8AD"/>
          </a:solidFill>
          <a:ln w="12700">
            <a:solidFill>
              <a:srgbClr val="39A8A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2779776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666B"/>
                </a:solidFill>
              </a:rPr>
              <a:t>Laparoscopie </a:t>
            </a:r>
            <a:r>
              <a:rPr lang="en-US" sz="1100" dirty="0">
                <a:solidFill>
                  <a:srgbClr val="051B1D"/>
                </a:solidFill>
              </a:rPr>
              <a:t>méthode de référence actuelle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3410712"/>
            <a:ext cx="256032" cy="256032"/>
          </a:xfrm>
          <a:prstGeom prst="ellipse">
            <a:avLst/>
          </a:prstGeom>
          <a:solidFill>
            <a:srgbClr val="39A8AD"/>
          </a:solidFill>
          <a:ln w="12700">
            <a:solidFill>
              <a:srgbClr val="39A8A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3346704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666B"/>
                </a:solidFill>
              </a:rPr>
              <a:t>IA </a:t>
            </a:r>
            <a:r>
              <a:rPr lang="en-US" sz="1100" dirty="0">
                <a:solidFill>
                  <a:srgbClr val="051B1D"/>
                </a:solidFill>
              </a:rPr>
              <a:t>pour aider au diagnostic automatique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1097280"/>
            <a:ext cx="41148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39A8AD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097280"/>
            <a:ext cx="4114800" cy="411480"/>
          </a:xfrm>
          <a:prstGeom prst="rect">
            <a:avLst/>
          </a:prstGeom>
          <a:solidFill>
            <a:srgbClr val="003339"/>
          </a:solidFill>
          <a:ln w="12700">
            <a:solidFill>
              <a:srgbClr val="00333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10972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7F7F8"/>
                </a:solidFill>
              </a:rPr>
              <a:t>📦  Dataset Kaggle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46320" y="1664208"/>
            <a:ext cx="36576" cy="384048"/>
          </a:xfrm>
          <a:prstGeom prst="rect">
            <a:avLst/>
          </a:prstGeom>
          <a:solidFill>
            <a:srgbClr val="00666B"/>
          </a:solidFill>
          <a:ln w="12700">
            <a:solidFill>
              <a:srgbClr val="0066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166420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666B"/>
                </a:solidFill>
              </a:rPr>
              <a:t>1 022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83480" y="186537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51B1D"/>
                </a:solidFill>
              </a:rPr>
              <a:t>Images totales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46320" y="2231136"/>
            <a:ext cx="36576" cy="38404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223113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74C3C"/>
                </a:solidFill>
              </a:rPr>
              <a:t>533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983480" y="243230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51B1D"/>
                </a:solidFill>
              </a:rPr>
              <a:t>Endométriose (52.2%)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46320" y="2798064"/>
            <a:ext cx="36576" cy="38404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279806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ECC71"/>
                </a:solidFill>
              </a:rPr>
              <a:t>489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983480" y="299923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51B1D"/>
                </a:solidFill>
              </a:rPr>
              <a:t>No-Endométriose (47.8%)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46320" y="3364992"/>
            <a:ext cx="36576" cy="38404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83480" y="33649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39C12"/>
                </a:solidFill>
              </a:rPr>
              <a:t>640×360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983480" y="356616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51B1D"/>
                </a:solidFill>
              </a:rPr>
              <a:t>Résolution px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51B1D"/>
          </a:solidFill>
          <a:ln w="12700">
            <a:solidFill>
              <a:srgbClr val="051B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7F7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 Deep Learning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4572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73FFFF"/>
                </a:solidFill>
              </a:rPr>
              <a:t>03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2011680" cy="3840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666B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05840"/>
            <a:ext cx="2011680" cy="640080"/>
          </a:xfrm>
          <a:prstGeom prst="rect">
            <a:avLst/>
          </a:prstGeom>
          <a:solidFill>
            <a:srgbClr val="00666B"/>
          </a:solidFill>
          <a:ln w="12700">
            <a:solidFill>
              <a:srgbClr val="0066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" y="10241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3FFFF"/>
                </a:solidFill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28600" y="126187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7F7F8"/>
                </a:solidFill>
              </a:rPr>
              <a:t>Prétraitement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874520"/>
            <a:ext cx="54864" cy="320040"/>
          </a:xfrm>
          <a:prstGeom prst="rect">
            <a:avLst/>
          </a:prstGeom>
          <a:solidFill>
            <a:srgbClr val="00666B"/>
          </a:solidFill>
          <a:ln w="12700">
            <a:solidFill>
              <a:srgbClr val="0066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" y="178308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51B1D"/>
                </a:solidFill>
              </a:rPr>
              <a:t>Resize 224×224 px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514600"/>
            <a:ext cx="54864" cy="320040"/>
          </a:xfrm>
          <a:prstGeom prst="rect">
            <a:avLst/>
          </a:prstGeom>
          <a:solidFill>
            <a:srgbClr val="00666B"/>
          </a:solidFill>
          <a:ln w="12700">
            <a:solidFill>
              <a:srgbClr val="0066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" y="2423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51B1D"/>
                </a:solidFill>
              </a:rPr>
              <a:t>Normalisation ÷255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3154680"/>
            <a:ext cx="54864" cy="320040"/>
          </a:xfrm>
          <a:prstGeom prst="rect">
            <a:avLst/>
          </a:prstGeom>
          <a:solidFill>
            <a:srgbClr val="00666B"/>
          </a:solidFill>
          <a:ln w="12700">
            <a:solidFill>
              <a:srgbClr val="0066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" y="306324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51B1D"/>
                </a:solidFill>
              </a:rPr>
              <a:t>Split stratifié 70/15/15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49424" y="2240280"/>
            <a:ext cx="146304" cy="54864"/>
          </a:xfrm>
          <a:prstGeom prst="rect">
            <a:avLst/>
          </a:prstGeom>
          <a:solidFill>
            <a:srgbClr val="39A8AD"/>
          </a:solidFill>
          <a:ln w="12700">
            <a:solidFill>
              <a:srgbClr val="39A8A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04872" y="1005840"/>
            <a:ext cx="2011680" cy="3840480"/>
          </a:xfrm>
          <a:prstGeom prst="rect">
            <a:avLst/>
          </a:prstGeom>
          <a:solidFill>
            <a:srgbClr val="FFFFFF"/>
          </a:solidFill>
          <a:ln w="19050">
            <a:solidFill>
              <a:srgbClr val="39A8AD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404872" y="1005840"/>
            <a:ext cx="2011680" cy="640080"/>
          </a:xfrm>
          <a:prstGeom prst="rect">
            <a:avLst/>
          </a:prstGeom>
          <a:solidFill>
            <a:srgbClr val="39A8AD"/>
          </a:solidFill>
          <a:ln w="12700">
            <a:solidFill>
              <a:srgbClr val="39A8A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78024" y="10241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3FFFF"/>
                </a:solidFill>
              </a:rPr>
              <a:t>02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404872" y="126187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7F7F8"/>
                </a:solidFill>
              </a:rPr>
              <a:t>Augmentation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542032" y="1874520"/>
            <a:ext cx="54864" cy="320040"/>
          </a:xfrm>
          <a:prstGeom prst="rect">
            <a:avLst/>
          </a:prstGeom>
          <a:solidFill>
            <a:srgbClr val="39A8AD"/>
          </a:solidFill>
          <a:ln w="12700">
            <a:solidFill>
              <a:srgbClr val="39A8A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60904" y="178308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51B1D"/>
                </a:solidFill>
              </a:rPr>
              <a:t>Rotation ±20°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542032" y="2514600"/>
            <a:ext cx="54864" cy="320040"/>
          </a:xfrm>
          <a:prstGeom prst="rect">
            <a:avLst/>
          </a:prstGeom>
          <a:solidFill>
            <a:srgbClr val="39A8AD"/>
          </a:solidFill>
          <a:ln w="12700">
            <a:solidFill>
              <a:srgbClr val="39A8A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60904" y="2423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51B1D"/>
                </a:solidFill>
              </a:rPr>
              <a:t>Flip H+V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542032" y="3154680"/>
            <a:ext cx="54864" cy="320040"/>
          </a:xfrm>
          <a:prstGeom prst="rect">
            <a:avLst/>
          </a:prstGeom>
          <a:solidFill>
            <a:srgbClr val="39A8AD"/>
          </a:solidFill>
          <a:ln w="12700">
            <a:solidFill>
              <a:srgbClr val="39A8A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60904" y="306324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51B1D"/>
                </a:solidFill>
              </a:rPr>
              <a:t>Zoom ±15%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542032" y="3794760"/>
            <a:ext cx="54864" cy="320040"/>
          </a:xfrm>
          <a:prstGeom prst="rect">
            <a:avLst/>
          </a:prstGeom>
          <a:solidFill>
            <a:srgbClr val="39A8AD"/>
          </a:solidFill>
          <a:ln w="12700">
            <a:solidFill>
              <a:srgbClr val="39A8A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60904" y="370332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51B1D"/>
                </a:solidFill>
              </a:rPr>
              <a:t>Luminosité [0.8-1.2]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425696" y="2240280"/>
            <a:ext cx="146304" cy="54864"/>
          </a:xfrm>
          <a:prstGeom prst="rect">
            <a:avLst/>
          </a:prstGeom>
          <a:solidFill>
            <a:srgbClr val="39A8AD"/>
          </a:solidFill>
          <a:ln w="12700">
            <a:solidFill>
              <a:srgbClr val="39A8A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81144" y="1005840"/>
            <a:ext cx="2011680" cy="3840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3339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81144" y="1005840"/>
            <a:ext cx="2011680" cy="640080"/>
          </a:xfrm>
          <a:prstGeom prst="rect">
            <a:avLst/>
          </a:prstGeom>
          <a:solidFill>
            <a:srgbClr val="003339"/>
          </a:solidFill>
          <a:ln w="12700">
            <a:solidFill>
              <a:srgbClr val="00333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54296" y="10241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3FFFF"/>
                </a:solidFill>
              </a:rPr>
              <a:t>03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81144" y="126187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7F7F8"/>
                </a:solidFill>
              </a:rPr>
              <a:t>Architecture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718304" y="1874520"/>
            <a:ext cx="54864" cy="320040"/>
          </a:xfrm>
          <a:prstGeom prst="rect">
            <a:avLst/>
          </a:prstGeom>
          <a:solidFill>
            <a:srgbClr val="003339"/>
          </a:solidFill>
          <a:ln w="12700">
            <a:solidFill>
              <a:srgbClr val="00333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37176" y="178308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51B1D"/>
                </a:solidFill>
              </a:rPr>
              <a:t>CNN Baseline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18304" y="2514600"/>
            <a:ext cx="54864" cy="320040"/>
          </a:xfrm>
          <a:prstGeom prst="rect">
            <a:avLst/>
          </a:prstGeom>
          <a:solidFill>
            <a:srgbClr val="003339"/>
          </a:solidFill>
          <a:ln w="12700">
            <a:solidFill>
              <a:srgbClr val="00333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37176" y="2423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51B1D"/>
                </a:solidFill>
              </a:rPr>
              <a:t>VGG16 Transfer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18304" y="3154680"/>
            <a:ext cx="54864" cy="320040"/>
          </a:xfrm>
          <a:prstGeom prst="rect">
            <a:avLst/>
          </a:prstGeom>
          <a:solidFill>
            <a:srgbClr val="003339"/>
          </a:solidFill>
          <a:ln w="12700">
            <a:solidFill>
              <a:srgbClr val="00333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37176" y="306324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51B1D"/>
                </a:solidFill>
              </a:rPr>
              <a:t>ResNet50 Transfer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601968" y="2240280"/>
            <a:ext cx="146304" cy="54864"/>
          </a:xfrm>
          <a:prstGeom prst="rect">
            <a:avLst/>
          </a:prstGeom>
          <a:solidFill>
            <a:srgbClr val="39A8AD"/>
          </a:solidFill>
          <a:ln w="12700">
            <a:solidFill>
              <a:srgbClr val="39A8A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57416" y="1005840"/>
            <a:ext cx="2011680" cy="3840480"/>
          </a:xfrm>
          <a:prstGeom prst="rect">
            <a:avLst/>
          </a:prstGeom>
          <a:solidFill>
            <a:srgbClr val="FFFFFF"/>
          </a:solidFill>
          <a:ln w="19050">
            <a:solidFill>
              <a:srgbClr val="1A5C6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757416" y="1005840"/>
            <a:ext cx="2011680" cy="640080"/>
          </a:xfrm>
          <a:prstGeom prst="rect">
            <a:avLst/>
          </a:prstGeom>
          <a:solidFill>
            <a:srgbClr val="1A5C60"/>
          </a:solidFill>
          <a:ln w="12700">
            <a:solidFill>
              <a:srgbClr val="1A5C6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30568" y="10241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3FFFF"/>
                </a:solidFill>
              </a:rPr>
              <a:t>04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757416" y="126187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7F7F8"/>
                </a:solidFill>
              </a:rPr>
              <a:t>Entraînement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894576" y="1874520"/>
            <a:ext cx="54864" cy="320040"/>
          </a:xfrm>
          <a:prstGeom prst="rect">
            <a:avLst/>
          </a:prstGeom>
          <a:solidFill>
            <a:srgbClr val="1A5C60"/>
          </a:solidFill>
          <a:ln w="12700">
            <a:solidFill>
              <a:srgbClr val="1A5C6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013448" y="178308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51B1D"/>
                </a:solidFill>
              </a:rPr>
              <a:t>Adam lr=1e-4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894576" y="2514600"/>
            <a:ext cx="54864" cy="320040"/>
          </a:xfrm>
          <a:prstGeom prst="rect">
            <a:avLst/>
          </a:prstGeom>
          <a:solidFill>
            <a:srgbClr val="1A5C60"/>
          </a:solidFill>
          <a:ln w="12700">
            <a:solidFill>
              <a:srgbClr val="1A5C6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013448" y="2423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51B1D"/>
                </a:solidFill>
              </a:rPr>
              <a:t>Binary Crossentropy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894576" y="3154680"/>
            <a:ext cx="54864" cy="320040"/>
          </a:xfrm>
          <a:prstGeom prst="rect">
            <a:avLst/>
          </a:prstGeom>
          <a:solidFill>
            <a:srgbClr val="1A5C60"/>
          </a:solidFill>
          <a:ln w="12700">
            <a:solidFill>
              <a:srgbClr val="1A5C6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013448" y="306324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51B1D"/>
                </a:solidFill>
              </a:rPr>
              <a:t>EarlyStopping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894576" y="3794760"/>
            <a:ext cx="54864" cy="320040"/>
          </a:xfrm>
          <a:prstGeom prst="rect">
            <a:avLst/>
          </a:prstGeom>
          <a:solidFill>
            <a:srgbClr val="1A5C60"/>
          </a:solidFill>
          <a:ln w="12700">
            <a:solidFill>
              <a:srgbClr val="1A5C6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013448" y="370332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51B1D"/>
                </a:solidFill>
              </a:rPr>
              <a:t>ReduceLROnPlateau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51B1D"/>
          </a:solidFill>
          <a:ln w="12700">
            <a:solidFill>
              <a:srgbClr val="051B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7F7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Justifications Techniques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4572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73FFFF"/>
                </a:solidFill>
              </a:rPr>
              <a:t>08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2743200" cy="39319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666B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1005840"/>
            <a:ext cx="2743200" cy="411480"/>
          </a:xfrm>
          <a:prstGeom prst="rect">
            <a:avLst/>
          </a:prstGeom>
          <a:solidFill>
            <a:srgbClr val="00666B"/>
          </a:solidFill>
          <a:ln w="12700">
            <a:solidFill>
              <a:srgbClr val="0066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10058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7F7F8"/>
                </a:solidFill>
              </a:rPr>
              <a:t>Choix Architecture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" y="1536192"/>
            <a:ext cx="2606040" cy="292608"/>
          </a:xfrm>
          <a:prstGeom prst="rect">
            <a:avLst/>
          </a:prstGeom>
          <a:solidFill>
            <a:srgbClr val="00666B">
              <a:alpha val="15000"/>
            </a:srgbClr>
          </a:solidFill>
          <a:ln w="12700">
            <a:solidFill>
              <a:srgbClr val="0066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1545336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666B"/>
                </a:solidFill>
              </a:rPr>
              <a:t>Pourquoi 32-64-128 ?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92608" y="1856232"/>
            <a:ext cx="254203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051B1D"/>
                </a:solidFill>
              </a:rPr>
              <a:t>Simple vers complexe : bords, textures, lesions d'endometriose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56032" y="2340864"/>
            <a:ext cx="2606040" cy="292608"/>
          </a:xfrm>
          <a:prstGeom prst="rect">
            <a:avLst/>
          </a:prstGeom>
          <a:solidFill>
            <a:srgbClr val="39A8AD">
              <a:alpha val="15000"/>
            </a:srgbClr>
          </a:solidFill>
          <a:ln w="12700">
            <a:solidFill>
              <a:srgbClr val="39A8A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" y="2350008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9A8AD"/>
                </a:solidFill>
              </a:rPr>
              <a:t>Pourquoi VGG16 ?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92608" y="2660904"/>
            <a:ext cx="254203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051B1D"/>
                </a:solidFill>
              </a:rPr>
              <a:t>16 couches adaptees aux petits datasets (1022 images)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56032" y="3145536"/>
            <a:ext cx="2606040" cy="292608"/>
          </a:xfrm>
          <a:prstGeom prst="rect">
            <a:avLst/>
          </a:prstGeom>
          <a:solidFill>
            <a:srgbClr val="E74C3C">
              <a:alpha val="15000"/>
            </a:srgbClr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" y="3154680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74C3C"/>
                </a:solidFill>
              </a:rPr>
              <a:t>Pas ResNet50 ?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92608" y="3465576"/>
            <a:ext cx="254203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051B1D"/>
                </a:solidFill>
              </a:rPr>
              <a:t>50 couches trop profondes. Prouve : bloque a 48% vs 92.9%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56032" y="3950208"/>
            <a:ext cx="2606040" cy="292608"/>
          </a:xfrm>
          <a:prstGeom prst="rect">
            <a:avLst/>
          </a:prstGeom>
          <a:solidFill>
            <a:srgbClr val="1A8A8F">
              <a:alpha val="15000"/>
            </a:srgbClr>
          </a:solidFill>
          <a:ln w="12700">
            <a:solidFill>
              <a:srgbClr val="1A8A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608" y="3959352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8A8F"/>
                </a:solidFill>
              </a:rPr>
              <a:t>GlobalAvgPool ?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92608" y="4270248"/>
            <a:ext cx="254203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051B1D"/>
                </a:solidFill>
              </a:rPr>
              <a:t>Reduit les parametres, evite overfitting vs Flatten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00400" y="1005840"/>
            <a:ext cx="2743200" cy="3931920"/>
          </a:xfrm>
          <a:prstGeom prst="rect">
            <a:avLst/>
          </a:prstGeom>
          <a:solidFill>
            <a:srgbClr val="FFFFFF"/>
          </a:solidFill>
          <a:ln w="19050">
            <a:solidFill>
              <a:srgbClr val="39A8AD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1005840"/>
            <a:ext cx="2743200" cy="411480"/>
          </a:xfrm>
          <a:prstGeom prst="rect">
            <a:avLst/>
          </a:prstGeom>
          <a:solidFill>
            <a:srgbClr val="39A8AD"/>
          </a:solidFill>
          <a:ln w="12700">
            <a:solidFill>
              <a:srgbClr val="39A8A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0" y="10058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7F7F8"/>
                </a:solidFill>
              </a:rPr>
              <a:t>Metriques d'Evaluation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73552" y="1536192"/>
            <a:ext cx="2606040" cy="292608"/>
          </a:xfrm>
          <a:prstGeom prst="rect">
            <a:avLst/>
          </a:prstGeom>
          <a:solidFill>
            <a:srgbClr val="00666B">
              <a:alpha val="12000"/>
            </a:srgbClr>
          </a:solidFill>
          <a:ln w="12700">
            <a:solidFill>
              <a:srgbClr val="0066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10128" y="1545336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666B"/>
                </a:solidFill>
              </a:rPr>
              <a:t>Accuracy 92.9%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310128" y="1856232"/>
            <a:ext cx="254203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051B1D"/>
                </a:solidFill>
              </a:rPr>
              <a:t>% images correctement classees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73552" y="2340864"/>
            <a:ext cx="2606040" cy="292608"/>
          </a:xfrm>
          <a:prstGeom prst="rect">
            <a:avLst/>
          </a:prstGeom>
          <a:solidFill>
            <a:srgbClr val="E74C3C">
              <a:alpha val="25000"/>
            </a:srgbClr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10128" y="2350008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</a:rPr>
              <a:t>Recall 97.3%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310128" y="2660904"/>
            <a:ext cx="254203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051B1D"/>
                </a:solidFill>
              </a:rPr>
              <a:t>PRIORITAIRE : 2 cas manques seulement sur 74 patientes malades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73552" y="3145536"/>
            <a:ext cx="2606040" cy="292608"/>
          </a:xfrm>
          <a:prstGeom prst="rect">
            <a:avLst/>
          </a:prstGeom>
          <a:solidFill>
            <a:srgbClr val="39A8AD">
              <a:alpha val="12000"/>
            </a:srgbClr>
          </a:solidFill>
          <a:ln w="12700">
            <a:solidFill>
              <a:srgbClr val="39A8A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10128" y="3154680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9A8AD"/>
                </a:solidFill>
              </a:rPr>
              <a:t>Precision 93.2%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310128" y="3465576"/>
            <a:ext cx="254203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051B1D"/>
                </a:solidFill>
              </a:rPr>
              <a:t>93% des alertes endometriose sont vraies, peu de fausses alarmes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273552" y="3950208"/>
            <a:ext cx="2606040" cy="292608"/>
          </a:xfrm>
          <a:prstGeom prst="rect">
            <a:avLst/>
          </a:prstGeom>
          <a:solidFill>
            <a:srgbClr val="1A5C60">
              <a:alpha val="12000"/>
            </a:srgbClr>
          </a:solidFill>
          <a:ln w="12700">
            <a:solidFill>
              <a:srgbClr val="1A5C6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10128" y="3959352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5C60"/>
                </a:solidFill>
              </a:rPr>
              <a:t>AUC 98.9%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310128" y="4270248"/>
            <a:ext cx="254203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051B1D"/>
                </a:solidFill>
              </a:rPr>
              <a:t>Distingue tres bien les 2 classes independamment du seuil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217920" y="1005840"/>
            <a:ext cx="2743200" cy="39319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3339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217920" y="1005840"/>
            <a:ext cx="2743200" cy="411480"/>
          </a:xfrm>
          <a:prstGeom prst="rect">
            <a:avLst/>
          </a:prstGeom>
          <a:solidFill>
            <a:srgbClr val="003339"/>
          </a:solidFill>
          <a:ln w="12700">
            <a:solidFill>
              <a:srgbClr val="00333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17920" y="10058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7F7F8"/>
                </a:solidFill>
              </a:rPr>
              <a:t>Courbes d'Apprentissage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291072" y="1508760"/>
            <a:ext cx="2606040" cy="1463040"/>
          </a:xfrm>
          <a:prstGeom prst="rect">
            <a:avLst/>
          </a:prstGeom>
          <a:solidFill>
            <a:srgbClr val="FFEAEA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27648" y="153619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74C3C"/>
                </a:solidFill>
              </a:rPr>
              <a:t>CNN Baseline — Overfitting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327648" y="1828800"/>
            <a:ext cx="248716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0666B"/>
                </a:solidFill>
              </a:rPr>
              <a:t>Train Loss descend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051B1D"/>
                </a:solidFill>
              </a:rPr>
              <a:t>le modele apprend
</a:t>
            </a:r>
            <a:endParaRPr lang="en-US" sz="850" dirty="0"/>
          </a:p>
          <a:p>
            <a:pPr marL="0" indent="0" algn="l">
              <a:buNone/>
            </a:pPr>
            <a:r>
              <a:rPr lang="en-US" sz="850" b="1" dirty="0">
                <a:solidFill>
                  <a:srgbClr val="E74C3C"/>
                </a:solidFill>
              </a:rPr>
              <a:t>Val Loss monte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051B1D"/>
                </a:solidFill>
              </a:rPr>
              <a:t>ne generalise pas — Gap 25%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291072" y="3063240"/>
            <a:ext cx="2606040" cy="1463040"/>
          </a:xfrm>
          <a:prstGeom prst="rect">
            <a:avLst/>
          </a:prstGeom>
          <a:solidFill>
            <a:srgbClr val="E8F8F5"/>
          </a:solidFill>
          <a:ln w="12700">
            <a:solidFill>
              <a:srgbClr val="00666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27648" y="309067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666B"/>
                </a:solidFill>
              </a:rPr>
              <a:t>VGG16 — Bon Apprentissage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327648" y="3383280"/>
            <a:ext cx="248716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0666B"/>
                </a:solidFill>
              </a:rPr>
              <a:t>Train approx Val accuracy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051B1D"/>
                </a:solidFill>
              </a:rPr>
              <a:t>les deux a 97% — Gap 2%
</a:t>
            </a:r>
            <a:endParaRPr lang="en-US" sz="850" dirty="0"/>
          </a:p>
          <a:p>
            <a:pPr marL="0" indent="0" algn="l">
              <a:buNone/>
            </a:pPr>
            <a:r>
              <a:rPr lang="en-US" sz="850" b="1" dirty="0">
                <a:solidFill>
                  <a:srgbClr val="00666B"/>
                </a:solidFill>
              </a:rPr>
              <a:t>Pas d'overfitting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051B1D"/>
                </a:solidFill>
              </a:rPr>
              <a:t>Transfer Learning efficace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51B1D"/>
          </a:solidFill>
          <a:ln w="12700">
            <a:solidFill>
              <a:srgbClr val="051B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7F7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Architectures &amp; Comparaison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4572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73FFFF"/>
                </a:solidFill>
              </a:rPr>
              <a:t>04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2697480" cy="3840480"/>
          </a:xfrm>
          <a:prstGeom prst="rect">
            <a:avLst/>
          </a:prstGeom>
          <a:solidFill>
            <a:srgbClr val="FFEAEA"/>
          </a:solidFill>
          <a:ln w="12700">
            <a:solidFill>
              <a:srgbClr val="E74C3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01752" y="107899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74C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CNN Baseline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1572768"/>
            <a:ext cx="1783080" cy="292608"/>
          </a:xfrm>
          <a:prstGeom prst="roundRect">
            <a:avLst>
              <a:gd name="adj" fmla="val 18750"/>
            </a:avLst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57276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Overfitting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201168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74C3C"/>
                </a:solidFill>
              </a:rPr>
              <a:t>48.1%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20040" y="2340864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EADB0"/>
                </a:solidFill>
              </a:rPr>
              <a:t>Accuracy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0040" y="267004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74C3C"/>
                </a:solidFill>
              </a:rPr>
              <a:t>74.6%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20040" y="2999232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EADB0"/>
                </a:solidFill>
              </a:rPr>
              <a:t>AUC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0040" y="3328416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74C3C"/>
                </a:solidFill>
              </a:rPr>
              <a:t>31.2%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20040" y="3657600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EADB0"/>
                </a:solidFill>
              </a:rPr>
              <a:t>F1-Score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28600" y="4169664"/>
            <a:ext cx="2697480" cy="676656"/>
          </a:xfrm>
          <a:prstGeom prst="rect">
            <a:avLst/>
          </a:prstGeom>
          <a:solidFill>
            <a:srgbClr val="E74C3C">
              <a:alpha val="12000"/>
            </a:srgbClr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4169664"/>
            <a:ext cx="254203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51B1D"/>
                </a:solidFill>
              </a:rPr>
              <a:t>Dataset </a:t>
            </a:r>
            <a:r>
              <a:rPr lang="en-US" sz="900" i="1" dirty="0" smtClean="0">
                <a:solidFill>
                  <a:srgbClr val="051B1D"/>
                </a:solidFill>
              </a:rPr>
              <a:t> </a:t>
            </a:r>
            <a:r>
              <a:rPr lang="en-US" sz="900" i="1" dirty="0">
                <a:solidFill>
                  <a:srgbClr val="051B1D"/>
                </a:solidFill>
              </a:rPr>
              <a:t>petit pour apprendre from scratch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154680" y="1005840"/>
            <a:ext cx="2697480" cy="3840480"/>
          </a:xfrm>
          <a:prstGeom prst="rect">
            <a:avLst/>
          </a:prstGeom>
          <a:solidFill>
            <a:srgbClr val="FFF5E6"/>
          </a:solidFill>
          <a:ln w="12700">
            <a:solidFill>
              <a:srgbClr val="F39C1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27832" y="107899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39C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ResNet50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11880" y="1572768"/>
            <a:ext cx="1783080" cy="292608"/>
          </a:xfrm>
          <a:prstGeom prst="roundRect">
            <a:avLst>
              <a:gd name="adj" fmla="val 18750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11880" y="157276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Insuffisant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46120" y="201168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39C12"/>
                </a:solidFill>
              </a:rPr>
              <a:t>48.1%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246120" y="2340864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EADB0"/>
                </a:solidFill>
              </a:rPr>
              <a:t>Accuracy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46120" y="267004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39C12"/>
                </a:solidFill>
              </a:rPr>
              <a:t>63.3%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246120" y="2999232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EADB0"/>
                </a:solidFill>
              </a:rPr>
              <a:t>AUC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246120" y="3328416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39C12"/>
                </a:solidFill>
              </a:rPr>
              <a:t>31.2%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246120" y="3657600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EADB0"/>
                </a:solidFill>
              </a:rPr>
              <a:t>F1-Score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154680" y="4169664"/>
            <a:ext cx="2697480" cy="676656"/>
          </a:xfrm>
          <a:prstGeom prst="rect">
            <a:avLst/>
          </a:prstGeom>
          <a:solidFill>
            <a:srgbClr val="F39C12">
              <a:alpha val="12000"/>
            </a:srgbClr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46120" y="4169664"/>
            <a:ext cx="254203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51B1D"/>
                </a:solidFill>
              </a:rPr>
              <a:t>50 couches profondes, nécessite + de données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080760" y="1005840"/>
            <a:ext cx="2697480" cy="3840480"/>
          </a:xfrm>
          <a:prstGeom prst="rect">
            <a:avLst/>
          </a:prstGeom>
          <a:solidFill>
            <a:srgbClr val="E8F8F5"/>
          </a:solidFill>
          <a:ln w="31750">
            <a:solidFill>
              <a:srgbClr val="0066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153912" y="107899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66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VGG16 ⭐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537960" y="1572768"/>
            <a:ext cx="1783080" cy="292608"/>
          </a:xfrm>
          <a:prstGeom prst="roundRect">
            <a:avLst>
              <a:gd name="adj" fmla="val 18750"/>
            </a:avLst>
          </a:prstGeom>
          <a:solidFill>
            <a:srgbClr val="00666B"/>
          </a:solidFill>
          <a:ln w="12700">
            <a:solidFill>
              <a:srgbClr val="00666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37960" y="157276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MEILLEUR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172200" y="201168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666B"/>
                </a:solidFill>
              </a:rPr>
              <a:t>92.9%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172200" y="2340864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EADB0"/>
                </a:solidFill>
              </a:rPr>
              <a:t>Accuracy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172200" y="267004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666B"/>
                </a:solidFill>
              </a:rPr>
              <a:t>98.9%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6172200" y="2999232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EADB0"/>
                </a:solidFill>
              </a:rPr>
              <a:t>AUC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172200" y="3328416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666B"/>
                </a:solidFill>
              </a:rPr>
              <a:t>92.9%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6172200" y="3657600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EADB0"/>
                </a:solidFill>
              </a:rPr>
              <a:t>F1-Score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080760" y="4169664"/>
            <a:ext cx="2697480" cy="676656"/>
          </a:xfrm>
          <a:prstGeom prst="rect">
            <a:avLst/>
          </a:prstGeom>
          <a:solidFill>
            <a:srgbClr val="00666B">
              <a:alpha val="12000"/>
            </a:srgbClr>
          </a:solidFill>
          <a:ln w="12700">
            <a:solidFill>
              <a:srgbClr val="00666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72200" y="4169664"/>
            <a:ext cx="254203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51B1D"/>
                </a:solidFill>
              </a:rPr>
              <a:t>Transfer Learning adapté aux petits datasets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51B1D"/>
          </a:solidFill>
          <a:ln w="12700">
            <a:solidFill>
              <a:srgbClr val="051B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7F7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Résultats Finaux — VGG16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4572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73FFFF"/>
                </a:solidFill>
              </a:rPr>
              <a:t>05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1554480" cy="1097280"/>
          </a:xfrm>
          <a:prstGeom prst="rect">
            <a:avLst/>
          </a:prstGeom>
          <a:solidFill>
            <a:srgbClr val="00666B"/>
          </a:solidFill>
          <a:ln w="12700">
            <a:solidFill>
              <a:srgbClr val="0066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" y="1024128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3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92.9%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28600" y="162763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7F7F8"/>
                </a:solidFill>
              </a:rPr>
              <a:t>Accuracy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965960" y="960120"/>
            <a:ext cx="1554480" cy="1097280"/>
          </a:xfrm>
          <a:prstGeom prst="rect">
            <a:avLst/>
          </a:prstGeom>
          <a:solidFill>
            <a:srgbClr val="39A8AD"/>
          </a:solidFill>
          <a:ln w="12700">
            <a:solidFill>
              <a:srgbClr val="39A8A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965960" y="1024128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3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93.2%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965960" y="162763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7F7F8"/>
                </a:solidFill>
              </a:rPr>
              <a:t>Precision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703320" y="960120"/>
            <a:ext cx="1554480" cy="1097280"/>
          </a:xfrm>
          <a:prstGeom prst="rect">
            <a:avLst/>
          </a:prstGeom>
          <a:solidFill>
            <a:srgbClr val="003339"/>
          </a:solidFill>
          <a:ln w="12700">
            <a:solidFill>
              <a:srgbClr val="00333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03320" y="1024128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3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92.9%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703320" y="162763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7F7F8"/>
                </a:solidFill>
              </a:rPr>
              <a:t>Recall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40680" y="960120"/>
            <a:ext cx="1554480" cy="1097280"/>
          </a:xfrm>
          <a:prstGeom prst="rect">
            <a:avLst/>
          </a:prstGeom>
          <a:solidFill>
            <a:srgbClr val="1A5C60"/>
          </a:solidFill>
          <a:ln w="12700">
            <a:solidFill>
              <a:srgbClr val="1A5C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40680" y="1024128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3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92.9%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440680" y="162763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7F7F8"/>
                </a:solidFill>
              </a:rPr>
              <a:t>F1-Score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178040" y="960120"/>
            <a:ext cx="1554480" cy="1097280"/>
          </a:xfrm>
          <a:prstGeom prst="rect">
            <a:avLst/>
          </a:prstGeom>
          <a:solidFill>
            <a:srgbClr val="051B1D"/>
          </a:solidFill>
          <a:ln w="12700">
            <a:solidFill>
              <a:srgbClr val="051B1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178040" y="1024128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3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98.9%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178040" y="162763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7F7F8"/>
                </a:solidFill>
              </a:rPr>
              <a:t>AUC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28600" y="2240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7F7F8"/>
                </a:solidFill>
              </a:rPr>
              <a:t>Matrice de Confusion</a:t>
            </a:r>
            <a:endParaRPr lang="en-US" sz="1100" dirty="0"/>
          </a:p>
        </p:txBody>
      </p:sp>
      <p:pic>
        <p:nvPicPr>
          <p:cNvPr id="20" name="Imag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157" y="2225742"/>
            <a:ext cx="3174497" cy="2743637"/>
          </a:xfrm>
          <a:prstGeom prst="rect">
            <a:avLst/>
          </a:prstGeom>
        </p:spPr>
      </p:pic>
      <p:pic>
        <p:nvPicPr>
          <p:cNvPr id="21" name="Image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4871" y="2225741"/>
            <a:ext cx="2955881" cy="274363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51B1D"/>
          </a:solidFill>
          <a:ln w="12700">
            <a:solidFill>
              <a:srgbClr val="051B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7F7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Visualisation Grad-CAM &amp; Application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0" y="4572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73FFFF"/>
                </a:solidFill>
              </a:rPr>
              <a:t>06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1051560"/>
            <a:ext cx="530352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39A8AD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51560"/>
            <a:ext cx="5303520" cy="384048"/>
          </a:xfrm>
          <a:prstGeom prst="rect">
            <a:avLst/>
          </a:prstGeom>
          <a:solidFill>
            <a:srgbClr val="00666B"/>
          </a:solidFill>
          <a:ln w="12700">
            <a:solidFill>
              <a:srgbClr val="0066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05156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7F7F8"/>
                </a:solidFill>
              </a:rPr>
              <a:t>🔥  Grad-CAM — Gradient Class Activation Map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53619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051B1D"/>
                </a:solidFill>
              </a:rPr>
              <a:t>Technique de visualisation qui montre où le modèle regarde pour prendre sa décision.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7472" y="2057400"/>
            <a:ext cx="1051560" cy="822960"/>
          </a:xfrm>
          <a:prstGeom prst="rect">
            <a:avLst/>
          </a:prstGeom>
          <a:solidFill>
            <a:srgbClr val="003339"/>
          </a:solidFill>
          <a:ln w="12700">
            <a:solidFill>
              <a:srgbClr val="003339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7472" y="2057400"/>
            <a:ext cx="1051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7F7F8"/>
                </a:solidFill>
              </a:rPr>
              <a:t>Image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7F7F8"/>
                </a:solidFill>
              </a:rPr>
              <a:t>Originale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408176" y="2304288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9A8AD"/>
                </a:solidFill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609344" y="2057400"/>
            <a:ext cx="1051560" cy="822960"/>
          </a:xfrm>
          <a:prstGeom prst="rect">
            <a:avLst/>
          </a:prstGeom>
          <a:solidFill>
            <a:srgbClr val="00666B"/>
          </a:solidFill>
          <a:ln w="12700">
            <a:solidFill>
              <a:srgbClr val="00666B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609344" y="2057400"/>
            <a:ext cx="1051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7F7F8"/>
                </a:solidFill>
              </a:rPr>
              <a:t>Gradients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7F7F8"/>
                </a:solidFill>
              </a:rPr>
              <a:t>Calculés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670048" y="2304288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9A8AD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871216" y="2057400"/>
            <a:ext cx="1051560" cy="822960"/>
          </a:xfrm>
          <a:prstGeom prst="rect">
            <a:avLst/>
          </a:prstGeom>
          <a:solidFill>
            <a:srgbClr val="39A8AD"/>
          </a:solidFill>
          <a:ln w="12700">
            <a:solidFill>
              <a:srgbClr val="39A8AD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871216" y="2057400"/>
            <a:ext cx="1051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7F7F8"/>
                </a:solidFill>
              </a:rPr>
              <a:t>Heatmap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7F7F8"/>
                </a:solidFill>
              </a:rPr>
              <a:t>Générée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931920" y="2304288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9A8AD"/>
                </a:solidFill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133088" y="2057400"/>
            <a:ext cx="1051560" cy="822960"/>
          </a:xfrm>
          <a:prstGeom prst="rect">
            <a:avLst/>
          </a:prstGeom>
          <a:solidFill>
            <a:srgbClr val="1A8A8F"/>
          </a:solidFill>
          <a:ln w="12700">
            <a:solidFill>
              <a:srgbClr val="1A8A8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133088" y="2057400"/>
            <a:ext cx="1051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7F7F8"/>
                </a:solidFill>
              </a:rPr>
              <a:t>Superposition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7F7F8"/>
                </a:solidFill>
              </a:rPr>
              <a:t>Finale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11480" y="3090672"/>
            <a:ext cx="228600" cy="22860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3017520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51B1D"/>
                </a:solidFill>
              </a:rPr>
              <a:t>Rouge = Zone très importante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11480" y="3529584"/>
            <a:ext cx="228600" cy="22860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" y="3456432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51B1D"/>
                </a:solidFill>
              </a:rPr>
              <a:t>Jaune = Zone modérément importante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11480" y="3968496"/>
            <a:ext cx="228600" cy="228600"/>
          </a:xfrm>
          <a:prstGeom prst="ellipse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" y="3895344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51B1D"/>
                </a:solidFill>
              </a:rPr>
              <a:t>Bleu  = Zone peu importante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760720" y="1051560"/>
            <a:ext cx="315468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3339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760720" y="1051560"/>
            <a:ext cx="3154680" cy="384048"/>
          </a:xfrm>
          <a:prstGeom prst="rect">
            <a:avLst/>
          </a:prstGeom>
          <a:solidFill>
            <a:srgbClr val="003339"/>
          </a:solidFill>
          <a:ln w="12700">
            <a:solidFill>
              <a:srgbClr val="00333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60720" y="105156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7F7F8"/>
                </a:solidFill>
              </a:rPr>
              <a:t>🌐  Application Streamlit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870448" y="1664208"/>
            <a:ext cx="292608" cy="292608"/>
          </a:xfrm>
          <a:prstGeom prst="rect">
            <a:avLst/>
          </a:prstGeom>
          <a:solidFill>
            <a:srgbClr val="00666B">
              <a:alpha val="80000"/>
            </a:srgbClr>
          </a:solidFill>
          <a:ln w="12700">
            <a:solidFill>
              <a:srgbClr val="39A8A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70448" y="1645920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📁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236208" y="1572768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51B1D"/>
                </a:solidFill>
              </a:rPr>
              <a:t>Upload image laparoscopique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870448" y="2212848"/>
            <a:ext cx="292608" cy="292608"/>
          </a:xfrm>
          <a:prstGeom prst="rect">
            <a:avLst/>
          </a:prstGeom>
          <a:solidFill>
            <a:srgbClr val="00666B">
              <a:alpha val="80000"/>
            </a:srgbClr>
          </a:solidFill>
          <a:ln w="12700">
            <a:solidFill>
              <a:srgbClr val="39A8A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70448" y="2194560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🧠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236208" y="2121408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51B1D"/>
                </a:solidFill>
              </a:rPr>
              <a:t>Prédiction VGG16 en temps réel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870448" y="2761488"/>
            <a:ext cx="292608" cy="292608"/>
          </a:xfrm>
          <a:prstGeom prst="rect">
            <a:avLst/>
          </a:prstGeom>
          <a:solidFill>
            <a:srgbClr val="00666B">
              <a:alpha val="80000"/>
            </a:srgbClr>
          </a:solidFill>
          <a:ln w="12700">
            <a:solidFill>
              <a:srgbClr val="39A8A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70448" y="2743200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📊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236208" y="2670048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51B1D"/>
                </a:solidFill>
              </a:rPr>
              <a:t>Score de confiance %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870448" y="3310128"/>
            <a:ext cx="292608" cy="292608"/>
          </a:xfrm>
          <a:prstGeom prst="rect">
            <a:avLst/>
          </a:prstGeom>
          <a:solidFill>
            <a:srgbClr val="00666B">
              <a:alpha val="80000"/>
            </a:srgbClr>
          </a:solidFill>
          <a:ln w="12700">
            <a:solidFill>
              <a:srgbClr val="39A8A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70448" y="3291840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🔥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236208" y="3218688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51B1D"/>
                </a:solidFill>
              </a:rPr>
              <a:t>Visualisation Grad-CAM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870448" y="3858768"/>
            <a:ext cx="292608" cy="292608"/>
          </a:xfrm>
          <a:prstGeom prst="rect">
            <a:avLst/>
          </a:prstGeom>
          <a:solidFill>
            <a:srgbClr val="00666B">
              <a:alpha val="80000"/>
            </a:srgbClr>
          </a:solidFill>
          <a:ln w="12700">
            <a:solidFill>
              <a:srgbClr val="39A8A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70448" y="3840480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📋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236208" y="3767328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51B1D"/>
                </a:solidFill>
              </a:rPr>
              <a:t>Métriques &amp; Comparaison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870448" y="4206240"/>
            <a:ext cx="2834640" cy="384048"/>
          </a:xfrm>
          <a:prstGeom prst="roundRect">
            <a:avLst>
              <a:gd name="adj" fmla="val 19048"/>
            </a:avLst>
          </a:prstGeom>
          <a:solidFill>
            <a:srgbClr val="00666B"/>
          </a:solidFill>
          <a:ln w="12700">
            <a:solidFill>
              <a:srgbClr val="00666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870448" y="420624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F7F8"/>
                </a:solidFill>
              </a:rPr>
              <a:t>✅  Déployé sur Streamlit Cloud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1B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457200"/>
            <a:ext cx="3657600" cy="3657600"/>
          </a:xfrm>
          <a:prstGeom prst="ellipse">
            <a:avLst/>
          </a:prstGeom>
          <a:solidFill>
            <a:srgbClr val="00666B">
              <a:alpha val="18000"/>
            </a:srgbClr>
          </a:solidFill>
          <a:ln w="12700">
            <a:solidFill>
              <a:srgbClr val="0066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926080"/>
            <a:ext cx="3200400" cy="3200400"/>
          </a:xfrm>
          <a:prstGeom prst="ellipse">
            <a:avLst/>
          </a:prstGeom>
          <a:solidFill>
            <a:srgbClr val="39A8AD">
              <a:alpha val="12000"/>
            </a:srgbClr>
          </a:solidFill>
          <a:ln w="12700">
            <a:solidFill>
              <a:srgbClr val="39A8A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7F7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 &amp; Perspectives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2743200" cy="3931920"/>
          </a:xfrm>
          <a:prstGeom prst="rect">
            <a:avLst/>
          </a:prstGeom>
          <a:solidFill>
            <a:srgbClr val="E8F8F5"/>
          </a:solidFill>
          <a:ln w="19050">
            <a:solidFill>
              <a:srgbClr val="0066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60120"/>
            <a:ext cx="2743200" cy="411480"/>
          </a:xfrm>
          <a:prstGeom prst="rect">
            <a:avLst/>
          </a:prstGeom>
          <a:solidFill>
            <a:srgbClr val="00666B"/>
          </a:solidFill>
          <a:ln w="12700">
            <a:solidFill>
              <a:srgbClr val="0066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9601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7F7F8"/>
                </a:solidFill>
              </a:rPr>
              <a:t>✅  Réalisations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463040"/>
            <a:ext cx="2514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051B1D"/>
                </a:solidFill>
              </a:rPr>
              <a:t>Pipeline DL complet</a:t>
            </a:r>
            <a:endParaRPr lang="en-US" sz="1050" dirty="0"/>
          </a:p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051B1D"/>
                </a:solidFill>
              </a:rPr>
              <a:t>VGG16 : 92.9% Accuracy</a:t>
            </a:r>
            <a:endParaRPr lang="en-US" sz="1050" dirty="0"/>
          </a:p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051B1D"/>
                </a:solidFill>
              </a:rPr>
              <a:t>AUC : 98.9%</a:t>
            </a:r>
            <a:endParaRPr lang="en-US" sz="1050" dirty="0"/>
          </a:p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051B1D"/>
                </a:solidFill>
              </a:rPr>
              <a:t>FN = 2 (sensibilité 97.3%)</a:t>
            </a:r>
            <a:endParaRPr lang="en-US" sz="1050" dirty="0"/>
          </a:p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051B1D"/>
                </a:solidFill>
              </a:rPr>
              <a:t>Grad-CAM implémenté</a:t>
            </a:r>
            <a:endParaRPr lang="en-US" sz="1050" dirty="0"/>
          </a:p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051B1D"/>
                </a:solidFill>
              </a:rPr>
              <a:t>App Streamlit déployée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54680" y="960120"/>
            <a:ext cx="2743200" cy="3931920"/>
          </a:xfrm>
          <a:prstGeom prst="rect">
            <a:avLst/>
          </a:prstGeom>
          <a:solidFill>
            <a:srgbClr val="FFF3E0"/>
          </a:solidFill>
          <a:ln w="19050">
            <a:solidFill>
              <a:srgbClr val="F39C1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960120"/>
            <a:ext cx="2743200" cy="4114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54680" y="9601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7F7F8"/>
                </a:solidFill>
              </a:rPr>
              <a:t>⚠️  Limitations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91840" y="1463040"/>
            <a:ext cx="2514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051B1D"/>
                </a:solidFill>
              </a:rPr>
              <a:t>Dataset petit (1 022 images)</a:t>
            </a:r>
            <a:endParaRPr lang="en-US" sz="1050" dirty="0"/>
          </a:p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051B1D"/>
                </a:solidFill>
              </a:rPr>
              <a:t>CNN Baseline : overfitting</a:t>
            </a:r>
            <a:endParaRPr lang="en-US" sz="1050" dirty="0"/>
          </a:p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051B1D"/>
                </a:solidFill>
              </a:rPr>
              <a:t>ResNet50 : sous-performant</a:t>
            </a:r>
            <a:endParaRPr lang="en-US" sz="1050" dirty="0"/>
          </a:p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051B1D"/>
                </a:solidFill>
              </a:rPr>
              <a:t>Généralisation limitée</a:t>
            </a:r>
            <a:endParaRPr lang="en-US" sz="1050" dirty="0"/>
          </a:p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051B1D"/>
                </a:solidFill>
              </a:rPr>
              <a:t>Données médicales rares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80760" y="960120"/>
            <a:ext cx="2743200" cy="3931920"/>
          </a:xfrm>
          <a:prstGeom prst="rect">
            <a:avLst/>
          </a:prstGeom>
          <a:solidFill>
            <a:srgbClr val="E0F7FA"/>
          </a:solidFill>
          <a:ln w="19050">
            <a:solidFill>
              <a:srgbClr val="39A8A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80760" y="960120"/>
            <a:ext cx="2743200" cy="411480"/>
          </a:xfrm>
          <a:prstGeom prst="rect">
            <a:avLst/>
          </a:prstGeom>
          <a:solidFill>
            <a:srgbClr val="39A8AD"/>
          </a:solidFill>
          <a:ln w="12700">
            <a:solidFill>
              <a:srgbClr val="39A8A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9601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7F7F8"/>
                </a:solidFill>
              </a:rPr>
              <a:t>🚀  Perspectives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17920" y="1463040"/>
            <a:ext cx="2514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051B1D"/>
                </a:solidFill>
              </a:rPr>
              <a:t>Dataset GLENDA (25 000 img)</a:t>
            </a:r>
            <a:endParaRPr lang="en-US" sz="1050" dirty="0"/>
          </a:p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051B1D"/>
                </a:solidFill>
              </a:rPr>
              <a:t>Data augmentation médicale</a:t>
            </a:r>
            <a:endParaRPr lang="en-US" sz="1050" dirty="0"/>
          </a:p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051B1D"/>
                </a:solidFill>
              </a:rPr>
              <a:t>Transformer / Attention</a:t>
            </a:r>
            <a:endParaRPr lang="en-US" sz="1050" dirty="0"/>
          </a:p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051B1D"/>
                </a:solidFill>
              </a:rPr>
              <a:t>Segmentation des lésions</a:t>
            </a:r>
            <a:endParaRPr lang="en-US" sz="1050" dirty="0"/>
          </a:p>
          <a:p>
            <a:pPr marL="342900" indent="-342900" algn="l">
              <a:buSzPct val="100000"/>
              <a:buChar char="•"/>
            </a:pPr>
            <a:r>
              <a:rPr lang="en-US" sz="1050" dirty="0">
                <a:solidFill>
                  <a:srgbClr val="051B1D"/>
                </a:solidFill>
              </a:rPr>
              <a:t>Validation clinique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492</Words>
  <Application>Microsoft Office PowerPoint</Application>
  <PresentationFormat>Affichage à l'écran (16:9)</PresentationFormat>
  <Paragraphs>177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2" baseType="lpstr">
      <vt:lpstr>Arial</vt:lpstr>
      <vt:lpstr>Calibri</vt:lpstr>
      <vt:lpstr>Georgia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Detection Endometriose Deep Learning</dc:title>
  <dc:subject>PptxGenJS Presentation</dc:subject>
  <dc:creator>PptxGenJS</dc:creator>
  <cp:lastModifiedBy>GLOBAL INFO</cp:lastModifiedBy>
  <cp:revision>3</cp:revision>
  <dcterms:created xsi:type="dcterms:W3CDTF">2026-05-21T22:05:45Z</dcterms:created>
  <dcterms:modified xsi:type="dcterms:W3CDTF">2026-05-21T23:59:35Z</dcterms:modified>
</cp:coreProperties>
</file>