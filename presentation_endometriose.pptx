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666B">
              <a:alpha val="25000"/>
            </a:srgbClr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39A8AD">
              <a:alpha val="15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54864" cy="2926080"/>
          </a:xfrm>
          <a:prstGeom prst="rect">
            <a:avLst/>
          </a:prstGeom>
          <a:solidFill>
            <a:srgbClr val="73FFFF"/>
          </a:solidFill>
          <a:ln w="12700">
            <a:solidFill>
              <a:srgbClr val="73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00666B">
              <a:alpha val="70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3FFFF"/>
                </a:solidFill>
              </a:rPr>
              <a:t>DEEP LEARNING — COMPUTER VISION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de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l'Endométriose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3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Intelligence Artificielle &amp; Transfer Learning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4114800" cy="18288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7F8"/>
                </a:solidFill>
              </a:rPr>
              <a:t>Module Deep Learning</a:t>
            </a:r>
            <a:pPr algn="l" indent="0" marL="0">
              <a:buNone/>
            </a:pPr>
            <a:r>
              <a:rPr lang="en-US" sz="1100" dirty="0">
                <a:solidFill>
                  <a:srgbClr val="8EADB0"/>
                </a:solidFill>
              </a:rPr>
              <a:t>   |   Encadrant : M. Abdallah Khemais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DB0"/>
                </a:solidFill>
              </a:rPr>
              <a:t>2025 —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280160"/>
            <a:ext cx="1005840" cy="822960"/>
          </a:xfrm>
          <a:prstGeom prst="rect">
            <a:avLst/>
          </a:prstGeom>
          <a:solidFill>
            <a:srgbClr val="00666B">
              <a:alpha val="80000"/>
            </a:srgbClr>
          </a:solidFill>
          <a:ln w="12700">
            <a:solidFill>
              <a:srgbClr val="39A8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0" y="12984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3FFFF"/>
                </a:solidFill>
              </a:rPr>
              <a:t>1 022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0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DB0"/>
                </a:solidFill>
              </a:rPr>
              <a:t>Images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72400" y="2468880"/>
            <a:ext cx="1005840" cy="822960"/>
          </a:xfrm>
          <a:prstGeom prst="rect">
            <a:avLst/>
          </a:prstGeom>
          <a:solidFill>
            <a:srgbClr val="00666B">
              <a:alpha val="80000"/>
            </a:srgbClr>
          </a:solidFill>
          <a:ln w="12700">
            <a:solidFill>
              <a:srgbClr val="39A8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0" y="2487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3FFFF"/>
                </a:solidFill>
              </a:rPr>
              <a:t>92.9%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0" y="2926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DB0"/>
                </a:solidFill>
              </a:rPr>
              <a:t>Accuracy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0" y="3657600"/>
            <a:ext cx="1005840" cy="822960"/>
          </a:xfrm>
          <a:prstGeom prst="rect">
            <a:avLst/>
          </a:prstGeom>
          <a:solidFill>
            <a:srgbClr val="00666B">
              <a:alpha val="80000"/>
            </a:srgbClr>
          </a:solidFill>
          <a:ln w="12700">
            <a:solidFill>
              <a:srgbClr val="39A8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0" y="36758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3FFFF"/>
                </a:solidFill>
              </a:rPr>
              <a:t>98.9%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0" y="4114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DB0"/>
                </a:solidFill>
              </a:rPr>
              <a:t>AUC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1B1D"/>
          </a:solidFill>
          <a:ln w="12700">
            <a:solidFill>
              <a:srgbClr val="051B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Problème &amp; Jeu de Données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3FFFF"/>
                </a:solidFill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9A8A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8"/>
                </a:solidFill>
              </a:rPr>
              <a:t>🩺  Problème Médical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09928"/>
            <a:ext cx="256032" cy="256032"/>
          </a:xfrm>
          <a:prstGeom prst="ellipse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45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66B"/>
                </a:solidFill>
              </a:rPr>
              <a:t>10% </a:t>
            </a:r>
            <a:pPr algn="l" indent="0" marL="0">
              <a:buNone/>
            </a:pPr>
            <a:r>
              <a:rPr lang="en-US" sz="1100" dirty="0">
                <a:solidFill>
                  <a:srgbClr val="051B1D"/>
                </a:solidFill>
              </a:rPr>
              <a:t>des femmes touchées dans le monde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76856"/>
            <a:ext cx="256032" cy="256032"/>
          </a:xfrm>
          <a:prstGeom prst="ellipse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12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66B"/>
                </a:solidFill>
              </a:rPr>
              <a:t>7-10 ans </a:t>
            </a:r>
            <a:pPr algn="l" indent="0" marL="0">
              <a:buNone/>
            </a:pPr>
            <a:r>
              <a:rPr lang="en-US" sz="1100" dirty="0">
                <a:solidFill>
                  <a:srgbClr val="051B1D"/>
                </a:solidFill>
              </a:rPr>
              <a:t>de retard de diagnostic en moyenne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843784"/>
            <a:ext cx="256032" cy="256032"/>
          </a:xfrm>
          <a:prstGeom prst="ellipse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77977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66B"/>
                </a:solidFill>
              </a:rPr>
              <a:t>Laparoscopie </a:t>
            </a:r>
            <a:pPr algn="l" indent="0" marL="0">
              <a:buNone/>
            </a:pPr>
            <a:r>
              <a:rPr lang="en-US" sz="1100" dirty="0">
                <a:solidFill>
                  <a:srgbClr val="051B1D"/>
                </a:solidFill>
              </a:rPr>
              <a:t>méthode de référence actuelle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410712"/>
            <a:ext cx="256032" cy="256032"/>
          </a:xfrm>
          <a:prstGeom prst="ellipse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3467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66B"/>
                </a:solidFill>
              </a:rPr>
              <a:t>IA </a:t>
            </a:r>
            <a:pPr algn="l" indent="0" marL="0">
              <a:buNone/>
            </a:pPr>
            <a:r>
              <a:rPr lang="en-US" sz="1100" dirty="0">
                <a:solidFill>
                  <a:srgbClr val="051B1D"/>
                </a:solidFill>
              </a:rPr>
              <a:t>pour aider au diagnostic automatique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9A8A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8"/>
                </a:solidFill>
              </a:rPr>
              <a:t>📦  Dataset Kaggle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664208"/>
            <a:ext cx="36576" cy="384048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664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66B"/>
                </a:solidFill>
              </a:rPr>
              <a:t>1 022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1865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51B1D"/>
                </a:solidFill>
              </a:rPr>
              <a:t>Images totales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231136"/>
            <a:ext cx="36576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2311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533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2432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51B1D"/>
                </a:solidFill>
              </a:rPr>
              <a:t>Endométriose (52.2%)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798064"/>
            <a:ext cx="36576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7980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489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29992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51B1D"/>
                </a:solidFill>
              </a:rPr>
              <a:t>No-Endométriose (47.8%)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3364992"/>
            <a:ext cx="36576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364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640×360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3566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51B1D"/>
                </a:solidFill>
              </a:rPr>
              <a:t>Résolution px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4343400"/>
            <a:ext cx="3749040" cy="201168"/>
          </a:xfrm>
          <a:prstGeom prst="rect">
            <a:avLst/>
          </a:prstGeom>
          <a:solidFill>
            <a:srgbClr val="051B1D">
              <a:alpha val="10000"/>
            </a:srgbClr>
          </a:solidFill>
          <a:ln w="12700">
            <a:solidFill>
              <a:srgbClr val="051B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297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3339"/>
                </a:solidFill>
              </a:rPr>
              <a:t>Split : 70% Train  |  15% Val  |  15% Test  (stratifié)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1B1D"/>
          </a:solidFill>
          <a:ln w="12700">
            <a:solidFill>
              <a:srgbClr val="051B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Deep Learning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3FFFF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011680" cy="64008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024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8"/>
                </a:solidFill>
              </a:rPr>
              <a:t>Prétraitement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54864" cy="32004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7830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Resize 224×224 px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54864" cy="32004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Normalisation ÷255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54864" cy="32004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063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Split stratifié 70/15/15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9424" y="2240280"/>
            <a:ext cx="146304" cy="54864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04872" y="1005840"/>
            <a:ext cx="2011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9A8A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04872" y="1005840"/>
            <a:ext cx="2011680" cy="64008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78024" y="1024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FFFF"/>
                </a:solidFill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04872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8"/>
                </a:solidFill>
              </a:rPr>
              <a:t>Augmentation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42032" y="1874520"/>
            <a:ext cx="54864" cy="32004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60904" y="17830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Rotation ±20°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42032" y="2514600"/>
            <a:ext cx="54864" cy="32004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60904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Flip H+V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42032" y="3154680"/>
            <a:ext cx="54864" cy="32004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60904" y="3063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Zoom ±15%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42032" y="3794760"/>
            <a:ext cx="54864" cy="32004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60904" y="3703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Luminosité [0.8-1.2]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25696" y="2240280"/>
            <a:ext cx="146304" cy="54864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81144" y="1005840"/>
            <a:ext cx="2011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81144" y="1005840"/>
            <a:ext cx="2011680" cy="64008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1024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FFFF"/>
                </a:solidFill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81144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8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18304" y="1874520"/>
            <a:ext cx="54864" cy="32004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7176" y="17830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CNN Baseline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18304" y="2514600"/>
            <a:ext cx="54864" cy="32004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7176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VGG16 Transfer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18304" y="3154680"/>
            <a:ext cx="54864" cy="32004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7176" y="3063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ResNet50 Transfer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01968" y="2240280"/>
            <a:ext cx="146304" cy="54864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57416" y="1005840"/>
            <a:ext cx="2011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C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57416" y="1005840"/>
            <a:ext cx="2011680" cy="640080"/>
          </a:xfrm>
          <a:prstGeom prst="rect">
            <a:avLst/>
          </a:prstGeom>
          <a:solidFill>
            <a:srgbClr val="1A5C60"/>
          </a:solidFill>
          <a:ln w="12700">
            <a:solidFill>
              <a:srgbClr val="1A5C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0568" y="1024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FFFF"/>
                </a:solidFill>
              </a:rPr>
              <a:t>04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57416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8"/>
                </a:solidFill>
              </a:rPr>
              <a:t>Entraînement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94576" y="1874520"/>
            <a:ext cx="54864" cy="320040"/>
          </a:xfrm>
          <a:prstGeom prst="rect">
            <a:avLst/>
          </a:prstGeom>
          <a:solidFill>
            <a:srgbClr val="1A5C60"/>
          </a:solidFill>
          <a:ln w="12700">
            <a:solidFill>
              <a:srgbClr val="1A5C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13448" y="17830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Adam lr=1e-4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94576" y="2514600"/>
            <a:ext cx="54864" cy="320040"/>
          </a:xfrm>
          <a:prstGeom prst="rect">
            <a:avLst/>
          </a:prstGeom>
          <a:solidFill>
            <a:srgbClr val="1A5C60"/>
          </a:solidFill>
          <a:ln w="12700">
            <a:solidFill>
              <a:srgbClr val="1A5C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13448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Binary Crossentropy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94576" y="3154680"/>
            <a:ext cx="54864" cy="320040"/>
          </a:xfrm>
          <a:prstGeom prst="rect">
            <a:avLst/>
          </a:prstGeom>
          <a:solidFill>
            <a:srgbClr val="1A5C60"/>
          </a:solidFill>
          <a:ln w="12700">
            <a:solidFill>
              <a:srgbClr val="1A5C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13448" y="3063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EarlyStopping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94576" y="3794760"/>
            <a:ext cx="54864" cy="320040"/>
          </a:xfrm>
          <a:prstGeom prst="rect">
            <a:avLst/>
          </a:prstGeom>
          <a:solidFill>
            <a:srgbClr val="1A5C60"/>
          </a:solidFill>
          <a:ln w="12700">
            <a:solidFill>
              <a:srgbClr val="1A5C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13448" y="3703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ReduceLROnPlateau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FFFF"/>
                </a:solidFill>
              </a:rPr>
              <a:t>Anti-Overfitting : </a:t>
            </a:r>
            <a:pPr algn="ctr" indent="0" marL="0">
              <a:buNone/>
            </a:pPr>
            <a:r>
              <a:rPr lang="en-US" sz="1000" dirty="0">
                <a:solidFill>
                  <a:srgbClr val="F7F7F8"/>
                </a:solidFill>
              </a:rPr>
              <a:t>BatchNorm  •  Dropout(0.5)  •  EarlyStopping(patience=10)  •  GlobalAvgPooling  •  Class Weights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1B1D"/>
          </a:solidFill>
          <a:ln w="12700">
            <a:solidFill>
              <a:srgbClr val="051B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Architectures &amp; Comparaison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3FFFF"/>
                </a:solidFill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697480" cy="3840480"/>
          </a:xfrm>
          <a:prstGeom prst="rect">
            <a:avLst/>
          </a:prstGeom>
          <a:solidFill>
            <a:srgbClr val="FFEAEA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" y="1078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Baseline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Overfitting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48.1%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234086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DB0"/>
                </a:solidFill>
              </a:rPr>
              <a:t>Accuracy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6700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74.6%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" y="299923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DB0"/>
                </a:solidFill>
              </a:rPr>
              <a:t>AUC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3284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31.2%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" y="36576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DB0"/>
                </a:solidFill>
              </a:rPr>
              <a:t>F1-Score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4169664"/>
            <a:ext cx="2697480" cy="676656"/>
          </a:xfrm>
          <a:prstGeom prst="rect">
            <a:avLst/>
          </a:prstGeom>
          <a:solidFill>
            <a:srgbClr val="E74C3C">
              <a:alpha val="12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169664"/>
            <a:ext cx="25420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51B1D"/>
                </a:solidFill>
              </a:rPr>
              <a:t>Dataset trop petit pour apprendre from scratch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54680" y="1005840"/>
            <a:ext cx="2697480" cy="3840480"/>
          </a:xfrm>
          <a:prstGeom prst="rect">
            <a:avLst/>
          </a:prstGeom>
          <a:solidFill>
            <a:srgbClr val="FFF5E6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27832" y="1078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ResNet50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11880" y="1572768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5727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Insuffisant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0116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48.1%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46120" y="234086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DB0"/>
                </a:solidFill>
              </a:rPr>
              <a:t>Accuracy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26700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63.3%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46120" y="299923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DB0"/>
                </a:solidFill>
              </a:rPr>
              <a:t>AUC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46120" y="33284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31.2%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46120" y="36576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DB0"/>
                </a:solidFill>
              </a:rPr>
              <a:t>F1-Score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54680" y="4169664"/>
            <a:ext cx="2697480" cy="676656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4169664"/>
            <a:ext cx="25420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51B1D"/>
                </a:solidFill>
              </a:rPr>
              <a:t>50 couches profondes, nécessite + de données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1005840"/>
            <a:ext cx="2697480" cy="3840480"/>
          </a:xfrm>
          <a:prstGeom prst="rect">
            <a:avLst/>
          </a:prstGeom>
          <a:solidFill>
            <a:srgbClr val="E8F8F5"/>
          </a:solidFill>
          <a:ln w="31750">
            <a:solidFill>
              <a:srgbClr val="0066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53912" y="1078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VGG16 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37960" y="1572768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15727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MEILLEUR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0116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66B"/>
                </a:solidFill>
              </a:rPr>
              <a:t>92.9%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72200" y="234086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DB0"/>
                </a:solidFill>
              </a:rPr>
              <a:t>Accuracy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26700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66B"/>
                </a:solidFill>
              </a:rPr>
              <a:t>98.9%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172200" y="299923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DB0"/>
                </a:solidFill>
              </a:rPr>
              <a:t>AUC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33284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66B"/>
                </a:solidFill>
              </a:rPr>
              <a:t>92.9%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172200" y="36576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DB0"/>
                </a:solidFill>
              </a:rPr>
              <a:t>F1-Score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0760" y="4169664"/>
            <a:ext cx="2697480" cy="676656"/>
          </a:xfrm>
          <a:prstGeom prst="rect">
            <a:avLst/>
          </a:prstGeom>
          <a:solidFill>
            <a:srgbClr val="00666B">
              <a:alpha val="12000"/>
            </a:srgbClr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4169664"/>
            <a:ext cx="25420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51B1D"/>
                </a:solidFill>
              </a:rPr>
              <a:t>Transfer Learning adapté aux petits datasets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1B1D"/>
          </a:solidFill>
          <a:ln w="12700">
            <a:solidFill>
              <a:srgbClr val="051B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Finaux — VGG16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3FFFF"/>
                </a:solidFill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554480" cy="109728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2412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3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92.9%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" y="16276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7F8"/>
                </a:solidFill>
              </a:rPr>
              <a:t>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65960" y="960120"/>
            <a:ext cx="1554480" cy="109728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02412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3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93.2%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65960" y="16276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7F8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960120"/>
            <a:ext cx="1554480" cy="109728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102412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3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92.9%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03320" y="16276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7F8"/>
                </a:solidFill>
              </a:rPr>
              <a:t>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960120"/>
            <a:ext cx="1554480" cy="1097280"/>
          </a:xfrm>
          <a:prstGeom prst="rect">
            <a:avLst/>
          </a:prstGeom>
          <a:solidFill>
            <a:srgbClr val="1A5C60"/>
          </a:solidFill>
          <a:ln w="12700">
            <a:solidFill>
              <a:srgbClr val="1A5C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102412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3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92.9%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40680" y="16276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7F8"/>
                </a:solidFill>
              </a:rPr>
              <a:t>F1-Score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78040" y="960120"/>
            <a:ext cx="1554480" cy="1097280"/>
          </a:xfrm>
          <a:prstGeom prst="rect">
            <a:avLst/>
          </a:prstGeom>
          <a:solidFill>
            <a:srgbClr val="051B1D"/>
          </a:solidFill>
          <a:ln w="12700">
            <a:solidFill>
              <a:srgbClr val="051B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02412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3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98.9%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78040" y="16276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7F8"/>
                </a:solidFill>
              </a:rPr>
              <a:t>AUC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24028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9A8A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240280"/>
            <a:ext cx="4114800" cy="36576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8"/>
                </a:solidFill>
              </a:rPr>
              <a:t>Matrice de Confusion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97480"/>
          <a:ext cx="3931920" cy="2011680"/>
        </p:xfrm>
        <a:graphic>
          <a:graphicData uri="http://schemas.openxmlformats.org/drawingml/2006/table">
            <a:tbl>
              <a:tblPr/>
              <a:tblGrid>
                <a:gridCol w="1310640"/>
                <a:gridCol w="1310640"/>
                <a:gridCol w="131064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Prédit: Endo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</a:rPr>
                        <a:t>Prédit: No-Endo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Vraie: Endo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666B"/>
                          </a:solidFill>
                        </a:rPr>
                        <a:t>72 ✅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</a:rPr>
                        <a:t>9 ⚠️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</a:rPr>
                        <a:t>Vraie: No-Endo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</a:rPr>
                        <a:t>2 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666B"/>
                          </a:solidFill>
                        </a:rPr>
                        <a:t>71 ✅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572000" y="2240280"/>
            <a:ext cx="4343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9A8A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0" y="2240280"/>
            <a:ext cx="4343400" cy="36576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0" y="2240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8"/>
                </a:solidFill>
              </a:rPr>
              <a:t>Interprétation Médicale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63440" y="2788920"/>
            <a:ext cx="36576" cy="347472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73168" y="274320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66B"/>
                </a:solidFill>
              </a:rPr>
              <a:t>97.3% </a:t>
            </a:r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Sensibilité — 97% des malades détectés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663440" y="3291840"/>
            <a:ext cx="36576" cy="347472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73168" y="324612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9A8AD"/>
                </a:solidFill>
              </a:rPr>
              <a:t>88.7% </a:t>
            </a:r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Spécificité — 89% des sains identifiés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663440" y="3794760"/>
            <a:ext cx="36576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73168" y="374904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FP=9 </a:t>
            </a:r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Fausses alarmes (sur-diagnostic)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663440" y="4297680"/>
            <a:ext cx="36576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73168" y="425196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FN=2 </a:t>
            </a:r>
            <a:pPr algn="l" indent="0" marL="0">
              <a:buNone/>
            </a:pPr>
            <a:r>
              <a:rPr lang="en-US" sz="1000" dirty="0">
                <a:solidFill>
                  <a:srgbClr val="051B1D"/>
                </a:solidFill>
              </a:rPr>
              <a:t>Cas manqués — dangereux médicalement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1B1D"/>
          </a:solidFill>
          <a:ln w="12700">
            <a:solidFill>
              <a:srgbClr val="051B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Visualisation Grad-CAM &amp; Application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3FFFF"/>
                </a:solidFill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5303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9A8A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5303520" cy="384048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8"/>
                </a:solidFill>
              </a:rPr>
              <a:t>🔥  Grad-CAM — Gradient Class Activation Map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51B1D"/>
                </a:solidFill>
              </a:rPr>
              <a:t>Technique de visualisation qui montre où le modèle regarde pour prendre sa décision.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2057400"/>
            <a:ext cx="1051560" cy="82296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205740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7F8"/>
                </a:solidFill>
              </a:rPr>
              <a:t>Image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7F7F8"/>
                </a:solidFill>
              </a:rPr>
              <a:t>Originale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08176" y="23042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A8AD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09344" y="2057400"/>
            <a:ext cx="1051560" cy="82296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09344" y="205740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7F8"/>
                </a:solidFill>
              </a:rPr>
              <a:t>Gradients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7F7F8"/>
                </a:solidFill>
              </a:rPr>
              <a:t>Calculés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70048" y="23042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A8AD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871216" y="2057400"/>
            <a:ext cx="1051560" cy="82296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71216" y="205740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7F8"/>
                </a:solidFill>
              </a:rPr>
              <a:t>Heatmap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7F7F8"/>
                </a:solidFill>
              </a:rPr>
              <a:t>Générée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23042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A8AD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33088" y="2057400"/>
            <a:ext cx="1051560" cy="822960"/>
          </a:xfrm>
          <a:prstGeom prst="rect">
            <a:avLst/>
          </a:prstGeom>
          <a:solidFill>
            <a:srgbClr val="1A8A8F"/>
          </a:solidFill>
          <a:ln w="12700">
            <a:solidFill>
              <a:srgbClr val="1A8A8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33088" y="205740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7F8"/>
                </a:solidFill>
              </a:rPr>
              <a:t>Superposition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7F7F8"/>
                </a:solidFill>
              </a:rPr>
              <a:t>Finale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090672"/>
            <a:ext cx="228600" cy="2286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01752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B1D"/>
                </a:solidFill>
              </a:rPr>
              <a:t>Rouge = Zone très importante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529584"/>
            <a:ext cx="228600" cy="2286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45643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B1D"/>
                </a:solidFill>
              </a:rPr>
              <a:t>Jaune = Zone modérément importante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968496"/>
            <a:ext cx="228600" cy="22860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89534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B1D"/>
                </a:solidFill>
              </a:rPr>
              <a:t>Bleu  = Zone peu importante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1051560"/>
            <a:ext cx="31546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0" y="1051560"/>
            <a:ext cx="3154680" cy="384048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10515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8"/>
                </a:solidFill>
              </a:rPr>
              <a:t>🌐  Application Streamlit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70448" y="1664208"/>
            <a:ext cx="292608" cy="292608"/>
          </a:xfrm>
          <a:prstGeom prst="rect">
            <a:avLst/>
          </a:prstGeom>
          <a:solidFill>
            <a:srgbClr val="00666B">
              <a:alpha val="80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0448" y="164592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36208" y="15727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B1D"/>
                </a:solidFill>
              </a:rPr>
              <a:t>Upload image laparoscopique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70448" y="2212848"/>
            <a:ext cx="292608" cy="292608"/>
          </a:xfrm>
          <a:prstGeom prst="rect">
            <a:avLst/>
          </a:prstGeom>
          <a:solidFill>
            <a:srgbClr val="00666B">
              <a:alpha val="80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0448" y="219456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🧠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6208" y="21214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B1D"/>
                </a:solidFill>
              </a:rPr>
              <a:t>Prédiction VGG16 en temps réel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70448" y="2761488"/>
            <a:ext cx="292608" cy="292608"/>
          </a:xfrm>
          <a:prstGeom prst="rect">
            <a:avLst/>
          </a:prstGeom>
          <a:solidFill>
            <a:srgbClr val="00666B">
              <a:alpha val="80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0448" y="274320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36208" y="26700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B1D"/>
                </a:solidFill>
              </a:rPr>
              <a:t>Score de confiance 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70448" y="3310128"/>
            <a:ext cx="292608" cy="292608"/>
          </a:xfrm>
          <a:prstGeom prst="rect">
            <a:avLst/>
          </a:prstGeom>
          <a:solidFill>
            <a:srgbClr val="00666B">
              <a:alpha val="80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32918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🔥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36208" y="32186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B1D"/>
                </a:solidFill>
              </a:rPr>
              <a:t>Visualisation Grad-CAM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70448" y="3858768"/>
            <a:ext cx="292608" cy="292608"/>
          </a:xfrm>
          <a:prstGeom prst="rect">
            <a:avLst/>
          </a:prstGeom>
          <a:solidFill>
            <a:srgbClr val="00666B">
              <a:alpha val="80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70448" y="38404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📋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36208" y="37673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51B1D"/>
                </a:solidFill>
              </a:rPr>
              <a:t>Métriques &amp; Comparaison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870448" y="420624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70448" y="4206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7F8"/>
                </a:solidFill>
              </a:rPr>
              <a:t>✅  Déployé sur Streamlit Cloud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00666B">
              <a:alpha val="18000"/>
            </a:srgbClr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39A8AD">
              <a:alpha val="12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Perspectives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3931920"/>
          </a:xfrm>
          <a:prstGeom prst="rect">
            <a:avLst/>
          </a:prstGeom>
          <a:solidFill>
            <a:srgbClr val="E8F8F5"/>
          </a:solidFill>
          <a:ln w="19050">
            <a:solidFill>
              <a:srgbClr val="0066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41148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8"/>
                </a:solidFill>
              </a:rPr>
              <a:t>✅  Réalisations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Pipeline DL complet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VGG16 : 92.9% Accuracy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AUC : 98.9%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FN = 2 (sensibilité 97.3%)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Grad-CAM implémenté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App Streamlit déployée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743200" cy="3931920"/>
          </a:xfrm>
          <a:prstGeom prst="rect">
            <a:avLst/>
          </a:prstGeom>
          <a:solidFill>
            <a:srgbClr val="FFF3E0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60120"/>
            <a:ext cx="274320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8"/>
                </a:solidFill>
              </a:rPr>
              <a:t>⚠️  Limitations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Dataset petit (1 022 images)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CNN Baseline : overfitting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ResNet50 : sous-performant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Généralisation limitée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Données médicales rares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743200" cy="3931920"/>
          </a:xfrm>
          <a:prstGeom prst="rect">
            <a:avLst/>
          </a:prstGeom>
          <a:solidFill>
            <a:srgbClr val="E0F7FA"/>
          </a:solidFill>
          <a:ln w="19050">
            <a:solidFill>
              <a:srgbClr val="39A8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960120"/>
            <a:ext cx="2743200" cy="41148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8"/>
                </a:solidFill>
              </a:rPr>
              <a:t>🚀  Perspectives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46304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Dataset GLENDA (25 000 img)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Data augmentation médicale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Transformer / Attention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Segmentation des lésions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Validation clinique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00666B">
              <a:alpha val="50000"/>
            </a:srgbClr>
          </a:solidFill>
          <a:ln w="12700">
            <a:solidFill>
              <a:srgbClr val="73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FFFF"/>
                </a:solidFill>
              </a:rPr>
              <a:t>VGG16 + Transfer Learning </a:t>
            </a:r>
            <a:pPr algn="ctr" indent="0" marL="0">
              <a:buNone/>
            </a:pPr>
            <a:r>
              <a:rPr lang="en-US" sz="1000" dirty="0">
                <a:solidFill>
                  <a:srgbClr val="F7F7F8"/>
                </a:solidFill>
              </a:rPr>
              <a:t>prouve l'efficacité de l'IA pour l'aide au diagnostic de l'endométriose avec des données limitées.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Endometriose Deep Learning</dc:title>
  <dc:subject>PptxGenJS Presentation</dc:subject>
  <dc:creator>PptxGenJS</dc:creator>
  <cp:lastModifiedBy>PptxGenJS</cp:lastModifiedBy>
  <cp:revision>1</cp:revision>
  <dcterms:created xsi:type="dcterms:W3CDTF">2026-05-21T15:14:15Z</dcterms:created>
  <dcterms:modified xsi:type="dcterms:W3CDTF">2026-05-21T15:14:15Z</dcterms:modified>
</cp:coreProperties>
</file>